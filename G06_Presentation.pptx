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aret Bold" charset="1" panose="00000000000000000000"/>
      <p:regular r:id="rId18"/>
    </p:embeddedFont>
    <p:embeddedFont>
      <p:font typeface="Garet" charset="1" panose="00000000000000000000"/>
      <p:regular r:id="rId19"/>
    </p:embeddedFont>
    <p:embeddedFont>
      <p:font typeface="Garet Ultra-Bold" charset="1" panose="00000000000000000000"/>
      <p:regular r:id="rId20"/>
    </p:embeddedFont>
    <p:embeddedFont>
      <p:font typeface="Garet Bold Italics" charset="1" panose="00000000000000000000"/>
      <p:regular r:id="rId21"/>
    </p:embeddedFont>
    <p:embeddedFont>
      <p:font typeface="Garet Italics" charset="1" panose="00000000000000000000"/>
      <p:regular r:id="rId22"/>
    </p:embeddedFont>
    <p:embeddedFont>
      <p:font typeface="Canva Sans" charset="1" panose="020B0503030501040103"/>
      <p:regular r:id="rId23"/>
    </p:embeddedFont>
    <p:embeddedFont>
      <p:font typeface="Arimo" charset="1" panose="020B0604020202020204"/>
      <p:regular r:id="rId24"/>
    </p:embeddedFont>
    <p:embeddedFont>
      <p:font typeface="Canva Sans Bold" charset="1" panose="020B08030305010401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https://huggingface.co/ehcalabres/wav2vec2-lg-xlsr-en-speech-emotion-recognition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G5EBjRlyo.mp4" Type="http://schemas.openxmlformats.org/officeDocument/2006/relationships/video"/><Relationship Id="rId4" Target="../media/VAG5EBjRlyo.mp4" Type="http://schemas.microsoft.com/office/2007/relationships/media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embeddings/oleObject1.bin" Type="http://schemas.openxmlformats.org/officeDocument/2006/relationships/oleObject"/><Relationship Id="rId4" Target="../media/image8.png" Type="http://schemas.openxmlformats.org/officeDocument/2006/relationships/image"/><Relationship Id="rId5" Target="../embeddings/oleObject2.bin" Type="http://schemas.openxmlformats.org/officeDocument/2006/relationships/oleObjec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VAG5EBjRlyo.mp4" Type="http://schemas.openxmlformats.org/officeDocument/2006/relationships/video"/><Relationship Id="rId4" Target="../media/VAG5EBjRlyo.mp4" Type="http://schemas.microsoft.com/office/2007/relationships/media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649430" y="1687911"/>
            <a:ext cx="4975212" cy="497521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6338383" y="2376865"/>
            <a:ext cx="3597304" cy="3597304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6655251" y="-1105050"/>
            <a:ext cx="2000551" cy="200055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7094810" y="-665492"/>
            <a:ext cx="1121433" cy="112143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26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1031156" y="2492106"/>
            <a:ext cx="417979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1028700" y="7708680"/>
            <a:ext cx="501677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Hitesh  Kumar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(22110098)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7032406"/>
            <a:ext cx="4643661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Bhavik Patel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(22110047)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31156" y="952500"/>
            <a:ext cx="1690986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b="true" sz="4500">
                <a:solidFill>
                  <a:srgbClr val="86409A"/>
                </a:solidFill>
                <a:latin typeface="Garet Bold"/>
                <a:ea typeface="Garet Bold"/>
                <a:cs typeface="Garet Bold"/>
                <a:sym typeface="Garet Bold"/>
              </a:rPr>
              <a:t>H</a:t>
            </a:r>
            <a:r>
              <a:rPr lang="en-US" b="true" sz="4500">
                <a:solidFill>
                  <a:srgbClr val="86409A"/>
                </a:solidFill>
                <a:latin typeface="Garet Bold"/>
                <a:ea typeface="Garet Bold"/>
                <a:cs typeface="Garet Bold"/>
                <a:sym typeface="Garet Bold"/>
              </a:rPr>
              <a:t>earMeOut: Speech-Based Mood Journaling Interface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8435282"/>
            <a:ext cx="449294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Pranav Patil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(22110199)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-3426289" y="5660680"/>
            <a:ext cx="8126974" cy="8126974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8872106" y="-2489876"/>
            <a:ext cx="4063487" cy="4063487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8983448" y="3688742"/>
            <a:ext cx="6360272" cy="5010928"/>
            <a:chOff x="0" y="0"/>
            <a:chExt cx="8480362" cy="668123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8480362" cy="6681238"/>
              <a:chOff x="0" y="0"/>
              <a:chExt cx="1856852" cy="1462918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856852" cy="1462918"/>
              </a:xfrm>
              <a:custGeom>
                <a:avLst/>
                <a:gdLst/>
                <a:ahLst/>
                <a:cxnLst/>
                <a:rect r="r" b="b" t="t" l="l"/>
                <a:pathLst>
                  <a:path h="1462918" w="1856852">
                    <a:moveTo>
                      <a:pt x="34041" y="0"/>
                    </a:moveTo>
                    <a:lnTo>
                      <a:pt x="1822811" y="0"/>
                    </a:lnTo>
                    <a:cubicBezTo>
                      <a:pt x="1831839" y="0"/>
                      <a:pt x="1840498" y="3586"/>
                      <a:pt x="1846882" y="9970"/>
                    </a:cubicBezTo>
                    <a:cubicBezTo>
                      <a:pt x="1853266" y="16354"/>
                      <a:pt x="1856852" y="25013"/>
                      <a:pt x="1856852" y="34041"/>
                    </a:cubicBezTo>
                    <a:lnTo>
                      <a:pt x="1856852" y="1428876"/>
                    </a:lnTo>
                    <a:cubicBezTo>
                      <a:pt x="1856852" y="1437905"/>
                      <a:pt x="1853266" y="1446563"/>
                      <a:pt x="1846882" y="1452947"/>
                    </a:cubicBezTo>
                    <a:cubicBezTo>
                      <a:pt x="1840498" y="1459331"/>
                      <a:pt x="1831839" y="1462918"/>
                      <a:pt x="1822811" y="1462918"/>
                    </a:cubicBezTo>
                    <a:lnTo>
                      <a:pt x="34041" y="1462918"/>
                    </a:lnTo>
                    <a:cubicBezTo>
                      <a:pt x="25013" y="1462918"/>
                      <a:pt x="16354" y="1459331"/>
                      <a:pt x="9970" y="1452947"/>
                    </a:cubicBezTo>
                    <a:cubicBezTo>
                      <a:pt x="3586" y="1446563"/>
                      <a:pt x="0" y="1437905"/>
                      <a:pt x="0" y="1428876"/>
                    </a:cubicBezTo>
                    <a:lnTo>
                      <a:pt x="0" y="34041"/>
                    </a:lnTo>
                    <a:cubicBezTo>
                      <a:pt x="0" y="25013"/>
                      <a:pt x="3586" y="16354"/>
                      <a:pt x="9970" y="9970"/>
                    </a:cubicBezTo>
                    <a:cubicBezTo>
                      <a:pt x="16354" y="3586"/>
                      <a:pt x="25013" y="0"/>
                      <a:pt x="34041" y="0"/>
                    </a:cubicBezTo>
                    <a:close/>
                  </a:path>
                </a:pathLst>
              </a:custGeom>
              <a:solidFill>
                <a:srgbClr val="C561AD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47625"/>
                <a:ext cx="1856852" cy="1510543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67839" y="185326"/>
              <a:ext cx="8144684" cy="6310586"/>
              <a:chOff x="0" y="0"/>
              <a:chExt cx="1049031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1049031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1049031">
                    <a:moveTo>
                      <a:pt x="26297" y="0"/>
                    </a:moveTo>
                    <a:lnTo>
                      <a:pt x="1022734" y="0"/>
                    </a:lnTo>
                    <a:cubicBezTo>
                      <a:pt x="1029708" y="0"/>
                      <a:pt x="1036397" y="2771"/>
                      <a:pt x="1041329" y="7702"/>
                    </a:cubicBezTo>
                    <a:cubicBezTo>
                      <a:pt x="1046260" y="12634"/>
                      <a:pt x="1049031" y="19323"/>
                      <a:pt x="1049031" y="26297"/>
                    </a:cubicBezTo>
                    <a:lnTo>
                      <a:pt x="1049031" y="786503"/>
                    </a:lnTo>
                    <a:cubicBezTo>
                      <a:pt x="1049031" y="793477"/>
                      <a:pt x="1046260" y="800166"/>
                      <a:pt x="1041329" y="805098"/>
                    </a:cubicBezTo>
                    <a:cubicBezTo>
                      <a:pt x="1036397" y="810029"/>
                      <a:pt x="1029708" y="812800"/>
                      <a:pt x="1022734" y="812800"/>
                    </a:cubicBezTo>
                    <a:lnTo>
                      <a:pt x="26297" y="812800"/>
                    </a:lnTo>
                    <a:cubicBezTo>
                      <a:pt x="19323" y="812800"/>
                      <a:pt x="12634" y="810029"/>
                      <a:pt x="7702" y="805098"/>
                    </a:cubicBezTo>
                    <a:cubicBezTo>
                      <a:pt x="2771" y="800166"/>
                      <a:pt x="0" y="793477"/>
                      <a:pt x="0" y="786503"/>
                    </a:cubicBezTo>
                    <a:lnTo>
                      <a:pt x="0" y="26297"/>
                    </a:lnTo>
                    <a:cubicBezTo>
                      <a:pt x="0" y="19323"/>
                      <a:pt x="2771" y="12634"/>
                      <a:pt x="7702" y="7702"/>
                    </a:cubicBezTo>
                    <a:cubicBezTo>
                      <a:pt x="12634" y="2771"/>
                      <a:pt x="19323" y="0"/>
                      <a:pt x="26297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27205" t="0" r="-27756" b="0"/>
                </a:stretch>
              </a:blipFill>
            </p:spPr>
          </p:sp>
        </p:grpSp>
      </p:grpSp>
      <p:sp>
        <p:nvSpPr>
          <p:cNvPr name="TextBox 31" id="31"/>
          <p:cNvSpPr txBox="true"/>
          <p:nvPr/>
        </p:nvSpPr>
        <p:spPr>
          <a:xfrm rot="0">
            <a:off x="1028700" y="2736546"/>
            <a:ext cx="80626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CS 435 -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Human Computer Interaction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28700" y="6356131"/>
            <a:ext cx="5897563" cy="514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Anukriti Bhargava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(24510026)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31156" y="5597306"/>
            <a:ext cx="2025967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C561AD"/>
                </a:solidFill>
                <a:latin typeface="Garet Ultra-Bold"/>
                <a:ea typeface="Garet Ultra-Bold"/>
                <a:cs typeface="Garet Ultra-Bold"/>
                <a:sym typeface="Garet Ultra-Bold"/>
              </a:rPr>
              <a:t>TEAM - 6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1156" y="1739900"/>
            <a:ext cx="6121059" cy="596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Hi-Fi </a:t>
            </a:r>
            <a:r>
              <a:rPr lang="en-US" sz="35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Prototype Design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Problem &amp; Motivation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28700" y="1901551"/>
            <a:ext cx="8062610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 this project?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1209" y="2831826"/>
            <a:ext cx="12494020" cy="264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Student mental health issues are rising, but many hesitate to seek help due to stigma, fear of judgment, and limited access to counselors.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Traditional assessments (self-reports, clinical interviews) miss gradual emotional decline.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63665" y="6089376"/>
            <a:ext cx="1381754" cy="58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Goal: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497997" y="7019651"/>
            <a:ext cx="12491564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Build a non-clinical, daily-use, speech-based mood tracking tool that feels natural, private, and unintimidating.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Conceptual Model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63665" y="2638188"/>
            <a:ext cx="14041361" cy="3927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i="true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NOT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 “Mental Health Screening” → A gentle </a:t>
            </a:r>
            <a:r>
              <a:rPr lang="en-US" sz="24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Journaling Companion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Replaces Clinical Labels with Emojis and Reflections.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duces Stigma and creates a Low-Pressure emotional check-in ritual.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Language Choices: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24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Record today’s mood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” (not “Complete Assessment”)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24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Mood Journal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” (not “Depression Screening Tool”)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24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Feeling patterns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” (not “Symptom Severity”)</a:t>
            </a:r>
          </a:p>
          <a:p>
            <a:pPr algn="l" marL="1079499" indent="-359833" lvl="2">
              <a:lnSpc>
                <a:spcPts val="3499"/>
              </a:lnSpc>
              <a:buFont typeface="Arial"/>
              <a:buChar char="⚬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“</a:t>
            </a:r>
            <a:r>
              <a:rPr lang="en-US" sz="24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Suggested Emojis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” (not “AI Diagnosis”)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sp>
        <p:nvSpPr>
          <p:cNvPr name="TextBox 27" id="27"/>
          <p:cNvSpPr txBox="true"/>
          <p:nvPr/>
        </p:nvSpPr>
        <p:spPr>
          <a:xfrm rot="0">
            <a:off x="1061209" y="1974576"/>
            <a:ext cx="124940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 i="true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Primary Metaphor:</a:t>
            </a:r>
            <a:r>
              <a:rPr lang="en-US" sz="3000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 Daily Moo</a:t>
            </a:r>
            <a:r>
              <a:rPr lang="en-US" sz="3000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d Journaling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28700" y="6679926"/>
            <a:ext cx="1249402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Mental Model: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1209" y="7356201"/>
            <a:ext cx="14318233" cy="173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AI acts as an </a:t>
            </a: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Assistant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, not an Authority.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 suggests moods based on Speech, but the user always chooses the final emotion.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Transparent confidence s</a:t>
            </a: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cores maintain trust without making the AI feel diagnostic.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Design Space: The 6 W’s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63665" y="1907901"/>
            <a:ext cx="12928352" cy="6234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Who: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Students who avoid Clinical Tools or care deeply ab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 P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iv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cy.</a:t>
            </a:r>
          </a:p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What: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Emot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rec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it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ion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from Voice + Calendar-based Mood Tracking + Pattern Visualization.</a:t>
            </a:r>
          </a:p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When: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Daily evening check-ins, Optional and Flexible.</a:t>
            </a:r>
          </a:p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Wher</a:t>
            </a: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Private environments (dorms, rooms, quiet spaces).</a:t>
            </a:r>
          </a:p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Why: 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Self-awareness, Pattern Recognition, Early signals of Distress.</a:t>
            </a:r>
          </a:p>
          <a:p>
            <a:pPr algn="l" marL="647700" indent="-323850" lvl="1">
              <a:lnSpc>
                <a:spcPts val="4980"/>
              </a:lnSpc>
              <a:buAutoNum type="arabicPeriod" startAt="1"/>
            </a:pPr>
            <a:r>
              <a:rPr lang="en-US" b="true" sz="3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How:</a:t>
            </a:r>
            <a:r>
              <a:rPr lang="en-US" sz="3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Speak → AI analyzes → User Picks Emoji → Calendar + Analytics Update.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System Architecture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5445848" y="1857079"/>
            <a:ext cx="7644628" cy="7529958"/>
          </a:xfrm>
          <a:custGeom>
            <a:avLst/>
            <a:gdLst/>
            <a:ahLst/>
            <a:cxnLst/>
            <a:rect r="r" b="b" t="t" l="l"/>
            <a:pathLst>
              <a:path h="7529958" w="7644628">
                <a:moveTo>
                  <a:pt x="0" y="0"/>
                </a:moveTo>
                <a:lnTo>
                  <a:pt x="7644628" y="0"/>
                </a:lnTo>
                <a:lnTo>
                  <a:pt x="7644628" y="7529958"/>
                </a:lnTo>
                <a:lnTo>
                  <a:pt x="0" y="7529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Database Schema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5761013" y="1230350"/>
            <a:ext cx="6765974" cy="8625844"/>
          </a:xfrm>
          <a:custGeom>
            <a:avLst/>
            <a:gdLst/>
            <a:ahLst/>
            <a:cxnLst/>
            <a:rect r="r" b="b" t="t" l="l"/>
            <a:pathLst>
              <a:path h="8625844" w="6765974">
                <a:moveTo>
                  <a:pt x="0" y="0"/>
                </a:moveTo>
                <a:lnTo>
                  <a:pt x="6765974" y="0"/>
                </a:lnTo>
                <a:lnTo>
                  <a:pt x="6765974" y="8625844"/>
                </a:lnTo>
                <a:lnTo>
                  <a:pt x="0" y="86258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2" r="0" b="-442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2" id="12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API Flow 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3155345" y="1898052"/>
            <a:ext cx="5661186" cy="7633895"/>
            <a:chOff x="0" y="0"/>
            <a:chExt cx="7548248" cy="1017852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548248" cy="9274859"/>
            </a:xfrm>
            <a:custGeom>
              <a:avLst/>
              <a:gdLst/>
              <a:ahLst/>
              <a:cxnLst/>
              <a:rect r="r" b="b" t="t" l="l"/>
              <a:pathLst>
                <a:path h="9274859" w="7548248">
                  <a:moveTo>
                    <a:pt x="0" y="0"/>
                  </a:moveTo>
                  <a:lnTo>
                    <a:pt x="7548248" y="0"/>
                  </a:lnTo>
                  <a:lnTo>
                    <a:pt x="7548248" y="9274859"/>
                  </a:lnTo>
                  <a:lnTo>
                    <a:pt x="0" y="9274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81863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9274859"/>
              <a:ext cx="7548248" cy="903668"/>
            </a:xfrm>
            <a:custGeom>
              <a:avLst/>
              <a:gdLst/>
              <a:ahLst/>
              <a:cxnLst/>
              <a:rect r="r" b="b" t="t" l="l"/>
              <a:pathLst>
                <a:path h="903668" w="7548248">
                  <a:moveTo>
                    <a:pt x="0" y="0"/>
                  </a:moveTo>
                  <a:lnTo>
                    <a:pt x="7548248" y="0"/>
                  </a:lnTo>
                  <a:lnTo>
                    <a:pt x="7548248" y="903668"/>
                  </a:lnTo>
                  <a:lnTo>
                    <a:pt x="0" y="903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66569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973648" y="2595886"/>
            <a:ext cx="5661186" cy="6238227"/>
            <a:chOff x="0" y="0"/>
            <a:chExt cx="7548248" cy="83176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548248" cy="638425"/>
            </a:xfrm>
            <a:custGeom>
              <a:avLst/>
              <a:gdLst/>
              <a:ahLst/>
              <a:cxnLst/>
              <a:rect r="r" b="b" t="t" l="l"/>
              <a:pathLst>
                <a:path h="638425" w="7548248">
                  <a:moveTo>
                    <a:pt x="0" y="0"/>
                  </a:moveTo>
                  <a:lnTo>
                    <a:pt x="7548248" y="0"/>
                  </a:lnTo>
                  <a:lnTo>
                    <a:pt x="7548248" y="638425"/>
                  </a:lnTo>
                  <a:lnTo>
                    <a:pt x="0" y="638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2542063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638425"/>
              <a:ext cx="7548248" cy="7679211"/>
            </a:xfrm>
            <a:custGeom>
              <a:avLst/>
              <a:gdLst/>
              <a:ahLst/>
              <a:cxnLst/>
              <a:rect r="r" b="b" t="t" l="l"/>
              <a:pathLst>
                <a:path h="7679211" w="7548248">
                  <a:moveTo>
                    <a:pt x="0" y="0"/>
                  </a:moveTo>
                  <a:lnTo>
                    <a:pt x="7548248" y="0"/>
                  </a:lnTo>
                  <a:lnTo>
                    <a:pt x="7548248" y="7679211"/>
                  </a:lnTo>
                  <a:lnTo>
                    <a:pt x="0" y="76792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19652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6" id="26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9" id="29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ML Service Flow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896416" y="1292225"/>
            <a:ext cx="10016397" cy="8401253"/>
          </a:xfrm>
          <a:custGeom>
            <a:avLst/>
            <a:gdLst/>
            <a:ahLst/>
            <a:cxnLst/>
            <a:rect r="r" b="b" t="t" l="l"/>
            <a:pathLst>
              <a:path h="8401253" w="10016397">
                <a:moveTo>
                  <a:pt x="0" y="0"/>
                </a:moveTo>
                <a:lnTo>
                  <a:pt x="10016397" y="0"/>
                </a:lnTo>
                <a:lnTo>
                  <a:pt x="10016397" y="8401253"/>
                </a:lnTo>
                <a:lnTo>
                  <a:pt x="0" y="84012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139238" y="4916486"/>
            <a:ext cx="9525" cy="406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6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696862"/>
            <a:ext cx="5363257" cy="94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Complete flow from Audio Input to Emoji Suggestion: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123204" y="9545489"/>
            <a:ext cx="7732713" cy="257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57"/>
              </a:lnSpc>
            </a:pPr>
            <a:r>
              <a:rPr lang="en-US" sz="146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Link: </a:t>
            </a:r>
            <a:r>
              <a:rPr lang="en-US" sz="1469" u="sng">
                <a:solidFill>
                  <a:srgbClr val="38B6FF"/>
                </a:solidFill>
                <a:latin typeface="Arimo"/>
                <a:ea typeface="Arimo"/>
                <a:cs typeface="Arimo"/>
                <a:sym typeface="Arimo"/>
                <a:hlinkClick r:id="rId3" tooltip="https://huggingface.co/ehcalabres/wav2vec2-lg-xlsr-en-speech-emotion-recognition"/>
              </a:rPr>
              <a:t>https://huggingface.co/ehcalabres/wav2vec2-lg-xlsr-en-speech-emotion-recognition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5" id="15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8" id="18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7" id="27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sp>
        <p:nvSpPr>
          <p:cNvPr name="TextBox 30" id="30"/>
          <p:cNvSpPr txBox="true"/>
          <p:nvPr/>
        </p:nvSpPr>
        <p:spPr>
          <a:xfrm rot="0">
            <a:off x="1028700" y="3717142"/>
            <a:ext cx="5328293" cy="2446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3277" indent="-251639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Not hand-crafted features</a:t>
            </a:r>
            <a:r>
              <a:rPr lang="en-US" sz="23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(like spectrograms, MFCCs, Pitch, Jitter, Shimmer, Zero Cross Rate, LPCC, etc.).</a:t>
            </a:r>
          </a:p>
          <a:p>
            <a:pPr algn="l" marL="503277" indent="-251639" lvl="1">
              <a:lnSpc>
                <a:spcPts val="3263"/>
              </a:lnSpc>
              <a:buFont typeface="Arial"/>
              <a:buChar char="•"/>
            </a:pPr>
            <a:r>
              <a:rPr lang="en-US" b="true" sz="233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Learned representations</a:t>
            </a:r>
            <a:r>
              <a:rPr lang="en-US" sz="233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optimized during pre-training.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Demonstration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649430" y="-1105050"/>
            <a:ext cx="4975212" cy="7768173"/>
            <a:chOff x="0" y="0"/>
            <a:chExt cx="6633615" cy="103575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3723949"/>
              <a:ext cx="6633615" cy="6633615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918605" y="4642554"/>
              <a:ext cx="4796406" cy="4796406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341095" y="0"/>
              <a:ext cx="2667401" cy="2667401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1927173" y="586078"/>
              <a:ext cx="1495244" cy="1495244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17" id="17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516257" y="1491265"/>
            <a:ext cx="11255485" cy="7767157"/>
            <a:chOff x="0" y="0"/>
            <a:chExt cx="15007314" cy="1035621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5007314" cy="10356210"/>
              <a:chOff x="0" y="0"/>
              <a:chExt cx="2600833" cy="1794637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600833" cy="1794637"/>
              </a:xfrm>
              <a:custGeom>
                <a:avLst/>
                <a:gdLst/>
                <a:ahLst/>
                <a:cxnLst/>
                <a:rect r="r" b="b" t="t" l="l"/>
                <a:pathLst>
                  <a:path h="1794637" w="2600833">
                    <a:moveTo>
                      <a:pt x="2600833" y="21952"/>
                    </a:moveTo>
                    <a:lnTo>
                      <a:pt x="2600833" y="1772685"/>
                    </a:lnTo>
                    <a:cubicBezTo>
                      <a:pt x="2600833" y="1784809"/>
                      <a:pt x="2591005" y="1794637"/>
                      <a:pt x="2578881" y="1794637"/>
                    </a:cubicBezTo>
                    <a:lnTo>
                      <a:pt x="21952" y="1794637"/>
                    </a:lnTo>
                    <a:cubicBezTo>
                      <a:pt x="9828" y="1794637"/>
                      <a:pt x="0" y="1784809"/>
                      <a:pt x="0" y="1772685"/>
                    </a:cubicBezTo>
                    <a:lnTo>
                      <a:pt x="0" y="21952"/>
                    </a:lnTo>
                    <a:cubicBezTo>
                      <a:pt x="0" y="9828"/>
                      <a:pt x="9828" y="0"/>
                      <a:pt x="21952" y="0"/>
                    </a:cubicBezTo>
                    <a:lnTo>
                      <a:pt x="2578881" y="0"/>
                    </a:lnTo>
                    <a:cubicBezTo>
                      <a:pt x="2584703" y="0"/>
                      <a:pt x="2590287" y="2313"/>
                      <a:pt x="2594403" y="6429"/>
                    </a:cubicBezTo>
                    <a:cubicBezTo>
                      <a:pt x="2598520" y="10546"/>
                      <a:pt x="2600833" y="16130"/>
                      <a:pt x="2600833" y="21952"/>
                    </a:cubicBezTo>
                    <a:close/>
                  </a:path>
                </a:pathLst>
              </a:custGeom>
              <a:solidFill>
                <a:srgbClr val="86409A"/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2600833" cy="18422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pic>
          <p:nvPicPr>
            <p:cNvPr name="Picture 24" id="24">
              <a:hlinkClick action="ppaction://media"/>
            </p:cNvPr>
            <p:cNvPicPr>
              <a:picLocks noChangeAspect="true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4"/>
                </p:ext>
              </p:extLst>
            </p:nvPr>
          </p:nvPicPr>
          <p:blipFill>
            <a:blip r:embed="rId2"/>
            <a:srcRect l="12886" t="0" r="13745" b="0"/>
            <a:stretch>
              <a:fillRect/>
            </a:stretch>
          </p:blipFill>
          <p:spPr>
            <a:xfrm flipH="false" flipV="false" rot="0">
              <a:off x="277987" y="253814"/>
              <a:ext cx="14451339" cy="984841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24"/>
                </p:tgtEl>
              </p:cMediaNode>
            </p:video>
          </p:childTnLst>
        </p:cTn>
      </p:par>
    </p:tnLst>
  </p:timing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Compromises in Prototyping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919602" y="-1105050"/>
            <a:ext cx="5705039" cy="6868364"/>
            <a:chOff x="0" y="0"/>
            <a:chExt cx="7606719" cy="9157819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979832"/>
              <a:ext cx="4257407" cy="4257407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1902940" y="3201962"/>
              <a:ext cx="5703779" cy="5703779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2692783" y="3991805"/>
              <a:ext cx="4124092" cy="4124092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3056053" y="0"/>
              <a:ext cx="2293510" cy="2293510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3559980" y="503927"/>
              <a:ext cx="1285655" cy="128565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3" id="23"/>
            <p:cNvGrpSpPr/>
            <p:nvPr/>
          </p:nvGrpSpPr>
          <p:grpSpPr>
            <a:xfrm rot="0">
              <a:off x="1715395" y="6725409"/>
              <a:ext cx="2432410" cy="2432410"/>
              <a:chOff x="0" y="0"/>
              <a:chExt cx="812800" cy="8128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graphicFrame>
        <p:nvGraphicFramePr>
          <p:cNvPr name="Object 26" id="26"/>
          <p:cNvGraphicFramePr/>
          <p:nvPr/>
        </p:nvGraphicFramePr>
        <p:xfrm>
          <a:off x="1063665" y="6068901"/>
          <a:ext cx="7543800" cy="1257300"/>
        </p:xfrm>
        <a:graphic>
          <a:graphicData uri="http://schemas.openxmlformats.org/presentationml/2006/ole">
            <p:oleObj imgW="9042400" imgH="2755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27" id="27"/>
          <p:cNvGraphicFramePr/>
          <p:nvPr/>
        </p:nvGraphicFramePr>
        <p:xfrm>
          <a:off x="1061209" y="2232904"/>
          <a:ext cx="5657850" cy="2514600"/>
        </p:xfrm>
        <a:graphic>
          <a:graphicData uri="http://schemas.openxmlformats.org/presentationml/2006/ole">
            <p:oleObj imgW="6781800" imgH="3644900" r:id="rId5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28" id="28"/>
          <p:cNvSpPr txBox="true"/>
          <p:nvPr/>
        </p:nvSpPr>
        <p:spPr>
          <a:xfrm rot="0">
            <a:off x="1061209" y="5524402"/>
            <a:ext cx="3450580" cy="430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89"/>
              </a:lnSpc>
              <a:spcBef>
                <a:spcPct val="0"/>
              </a:spcBef>
            </a:pPr>
            <a:r>
              <a:rPr lang="en-US" sz="25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Vertical Compromises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61209" y="1662351"/>
            <a:ext cx="9329012" cy="456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9"/>
              </a:lnSpc>
              <a:spcBef>
                <a:spcPct val="0"/>
              </a:spcBef>
            </a:pPr>
            <a:r>
              <a:rPr lang="en-US" sz="26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Horizontal Compromises (UI Present, Backend Simplified)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User Evaluation 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1564361" y="-2593061"/>
            <a:ext cx="5186122" cy="5186122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199988" y="7430459"/>
            <a:ext cx="4277834" cy="4277834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43679" lIns="43679" bIns="43679" rIns="43679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792371" y="8022841"/>
            <a:ext cx="3093069" cy="3093069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43679" lIns="43679" bIns="43679" rIns="43679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7184906" y="5882388"/>
            <a:ext cx="1720133" cy="1720133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43679" lIns="43679" bIns="43679" rIns="43679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562851" y="6260333"/>
            <a:ext cx="964242" cy="964242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true">
              <a:gsLst>
                <a:gs pos="0">
                  <a:srgbClr val="8C52FF">
                    <a:alpha val="100000"/>
                  </a:srgbClr>
                </a:gs>
                <a:gs pos="100000">
                  <a:srgbClr val="FF914D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43679" lIns="43679" bIns="43679" rIns="43679"/>
            <a:lstStyle/>
            <a:p>
              <a:pPr algn="ctr" marL="0" indent="0" lvl="0">
                <a:lnSpc>
                  <a:spcPts val="3326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400000">
            <a:off x="-1493408" y="5216560"/>
            <a:ext cx="4955656" cy="1072224"/>
          </a:xfrm>
          <a:custGeom>
            <a:avLst/>
            <a:gdLst/>
            <a:ahLst/>
            <a:cxnLst/>
            <a:rect r="r" b="b" t="t" l="l"/>
            <a:pathLst>
              <a:path h="1072224" w="4955656">
                <a:moveTo>
                  <a:pt x="0" y="0"/>
                </a:moveTo>
                <a:lnTo>
                  <a:pt x="4955656" y="0"/>
                </a:lnTo>
                <a:lnTo>
                  <a:pt x="4955656" y="1072223"/>
                </a:lnTo>
                <a:lnTo>
                  <a:pt x="0" y="10722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0" id="20"/>
          <p:cNvSpPr/>
          <p:nvPr/>
        </p:nvSpPr>
        <p:spPr>
          <a:xfrm>
            <a:off x="1520332" y="5650174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 flipH="true" flipV="true">
            <a:off x="1896916" y="2184721"/>
            <a:ext cx="8581" cy="6994138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1888334" y="2201884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888334" y="3391739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888334" y="4581594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888334" y="5631124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905497" y="6661508"/>
            <a:ext cx="368003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 flipV="true">
            <a:off x="1905497" y="7839337"/>
            <a:ext cx="394749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 flipV="true">
            <a:off x="6394045" y="4504389"/>
            <a:ext cx="1767581" cy="949385"/>
          </a:xfrm>
          <a:prstGeom prst="line">
            <a:avLst/>
          </a:prstGeom>
          <a:ln cap="flat" w="38100">
            <a:solidFill>
              <a:srgbClr val="FA79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9" id="29"/>
          <p:cNvSpPr txBox="true"/>
          <p:nvPr/>
        </p:nvSpPr>
        <p:spPr>
          <a:xfrm rot="-1730946">
            <a:off x="5781344" y="4201695"/>
            <a:ext cx="2349865" cy="73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Quantitive analysis 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2279359" y="1707137"/>
            <a:ext cx="3863091" cy="835832"/>
          </a:xfrm>
          <a:custGeom>
            <a:avLst/>
            <a:gdLst/>
            <a:ahLst/>
            <a:cxnLst/>
            <a:rect r="r" b="b" t="t" l="l"/>
            <a:pathLst>
              <a:path h="835832" w="3863091">
                <a:moveTo>
                  <a:pt x="0" y="0"/>
                </a:moveTo>
                <a:lnTo>
                  <a:pt x="3863090" y="0"/>
                </a:lnTo>
                <a:lnTo>
                  <a:pt x="3863090" y="835833"/>
                </a:lnTo>
                <a:lnTo>
                  <a:pt x="0" y="8358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1" id="31"/>
          <p:cNvSpPr/>
          <p:nvPr/>
        </p:nvSpPr>
        <p:spPr>
          <a:xfrm flipV="true">
            <a:off x="1905497" y="9159809"/>
            <a:ext cx="394749" cy="0"/>
          </a:xfrm>
          <a:prstGeom prst="line">
            <a:avLst/>
          </a:prstGeom>
          <a:ln cap="flat" w="38100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2257404" y="2877654"/>
            <a:ext cx="3921277" cy="835832"/>
            <a:chOff x="0" y="0"/>
            <a:chExt cx="5228370" cy="1114443"/>
          </a:xfrm>
        </p:grpSpPr>
        <p:sp>
          <p:nvSpPr>
            <p:cNvPr name="TextBox 33" id="33"/>
            <p:cNvSpPr txBox="true"/>
            <p:nvPr/>
          </p:nvSpPr>
          <p:spPr>
            <a:xfrm rot="0">
              <a:off x="58545" y="338352"/>
              <a:ext cx="5169824" cy="36470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</a:pPr>
              <a:r>
                <a:rPr lang="en-US" sz="1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Basic Demographics </a:t>
              </a:r>
            </a:p>
          </p:txBody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8" y="0"/>
                  </a:lnTo>
                  <a:lnTo>
                    <a:pt x="5150788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2204095" y="5218688"/>
            <a:ext cx="4027895" cy="835832"/>
            <a:chOff x="0" y="0"/>
            <a:chExt cx="5370527" cy="111444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199015"/>
              <a:ext cx="5370527" cy="758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</a:t>
              </a:r>
              <a:r>
                <a:rPr lang="en-US" sz="1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Transparency &amp; Accuracy </a:t>
              </a:r>
            </a:p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sz="1700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Concerns</a:t>
              </a:r>
            </a:p>
          </p:txBody>
        </p:sp>
        <p:sp>
          <p:nvSpPr>
            <p:cNvPr name="Freeform 37" id="37"/>
            <p:cNvSpPr/>
            <p:nvPr/>
          </p:nvSpPr>
          <p:spPr>
            <a:xfrm flipH="false" flipV="false" rot="0">
              <a:off x="19037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7" y="0"/>
                  </a:lnTo>
                  <a:lnTo>
                    <a:pt x="5150787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952707" y="6389205"/>
            <a:ext cx="4530671" cy="835832"/>
            <a:chOff x="0" y="0"/>
            <a:chExt cx="6040895" cy="1114443"/>
          </a:xfrm>
        </p:grpSpPr>
        <p:sp>
          <p:nvSpPr>
            <p:cNvPr name="TextBox 39" id="39"/>
            <p:cNvSpPr txBox="true"/>
            <p:nvPr/>
          </p:nvSpPr>
          <p:spPr>
            <a:xfrm rot="0">
              <a:off x="0" y="356777"/>
              <a:ext cx="6040895" cy="372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Fear of Stigma &amp; Tone Sensitivity</a:t>
              </a:r>
            </a:p>
          </p:txBody>
        </p:sp>
        <p:sp>
          <p:nvSpPr>
            <p:cNvPr name="Freeform 40" id="40"/>
            <p:cNvSpPr/>
            <p:nvPr/>
          </p:nvSpPr>
          <p:spPr>
            <a:xfrm flipH="false" flipV="false" rot="0">
              <a:off x="404840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8" y="0"/>
                  </a:lnTo>
                  <a:lnTo>
                    <a:pt x="5150788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2077369" y="7559722"/>
            <a:ext cx="4281348" cy="835832"/>
            <a:chOff x="0" y="0"/>
            <a:chExt cx="5708464" cy="1114443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181139"/>
              <a:ext cx="5708464" cy="774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Pers</a:t>
              </a: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onalization &amp; Engagement</a:t>
              </a:r>
            </a:p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Styles</a:t>
              </a:r>
            </a:p>
          </p:txBody>
        </p:sp>
        <p:sp>
          <p:nvSpPr>
            <p:cNvPr name="Freeform 43" id="43"/>
            <p:cNvSpPr/>
            <p:nvPr/>
          </p:nvSpPr>
          <p:spPr>
            <a:xfrm flipH="false" flipV="false" rot="0">
              <a:off x="319052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7" y="0"/>
                  </a:lnTo>
                  <a:lnTo>
                    <a:pt x="5150787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2286497" y="4048171"/>
            <a:ext cx="3863091" cy="835832"/>
            <a:chOff x="0" y="0"/>
            <a:chExt cx="5150788" cy="1114443"/>
          </a:xfrm>
        </p:grpSpPr>
        <p:sp>
          <p:nvSpPr>
            <p:cNvPr name="TextBox 45" id="45"/>
            <p:cNvSpPr txBox="true"/>
            <p:nvPr/>
          </p:nvSpPr>
          <p:spPr>
            <a:xfrm rot="0">
              <a:off x="210254" y="330140"/>
              <a:ext cx="4810708" cy="37231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Regarding Privacy &amp; Data Control</a:t>
              </a:r>
            </a:p>
          </p:txBody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8" y="0"/>
                  </a:lnTo>
                  <a:lnTo>
                    <a:pt x="5150788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202031" y="8728929"/>
            <a:ext cx="4281348" cy="835832"/>
            <a:chOff x="0" y="0"/>
            <a:chExt cx="5708464" cy="11144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56020" y="0"/>
              <a:ext cx="5150788" cy="1114443"/>
            </a:xfrm>
            <a:custGeom>
              <a:avLst/>
              <a:gdLst/>
              <a:ahLst/>
              <a:cxnLst/>
              <a:rect r="r" b="b" t="t" l="l"/>
              <a:pathLst>
                <a:path h="1114443" w="5150788">
                  <a:moveTo>
                    <a:pt x="0" y="0"/>
                  </a:moveTo>
                  <a:lnTo>
                    <a:pt x="5150788" y="0"/>
                  </a:lnTo>
                  <a:lnTo>
                    <a:pt x="5150788" y="1114443"/>
                  </a:lnTo>
                  <a:lnTo>
                    <a:pt x="0" y="11144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 rot="0">
              <a:off x="0" y="155739"/>
              <a:ext cx="5708464" cy="7743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Additi</a:t>
              </a: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onal Usability &amp; Missing </a:t>
              </a:r>
            </a:p>
            <a:p>
              <a:pPr algn="ctr">
                <a:lnSpc>
                  <a:spcPts val="2411"/>
                </a:lnSpc>
                <a:spcBef>
                  <a:spcPct val="0"/>
                </a:spcBef>
              </a:pPr>
              <a:r>
                <a:rPr lang="en-US" sz="172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Elements </a:t>
              </a:r>
            </a:p>
          </p:txBody>
        </p:sp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5877827" y="-893002"/>
            <a:ext cx="13279654" cy="7636244"/>
          </a:xfrm>
          <a:prstGeom prst="rect">
            <a:avLst/>
          </a:prstGeom>
        </p:spPr>
      </p:pic>
      <p:sp>
        <p:nvSpPr>
          <p:cNvPr name="AutoShape 51" id="51"/>
          <p:cNvSpPr/>
          <p:nvPr/>
        </p:nvSpPr>
        <p:spPr>
          <a:xfrm>
            <a:off x="6470342" y="5888053"/>
            <a:ext cx="1877226" cy="708306"/>
          </a:xfrm>
          <a:prstGeom prst="line">
            <a:avLst/>
          </a:prstGeom>
          <a:ln cap="flat" w="38100">
            <a:solidFill>
              <a:srgbClr val="FA79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2" id="52"/>
          <p:cNvSpPr txBox="true"/>
          <p:nvPr/>
        </p:nvSpPr>
        <p:spPr>
          <a:xfrm rot="-5400000">
            <a:off x="-2851284" y="5562746"/>
            <a:ext cx="7602241" cy="379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6"/>
              </a:lnSpc>
              <a:spcBef>
                <a:spcPct val="0"/>
              </a:spcBef>
            </a:pPr>
            <a:r>
              <a:rPr lang="en-US" b="true" sz="226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Mixed Methods Approach (n=5)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57404" y="1825459"/>
            <a:ext cx="3877368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 Usability Scale (SUS); Mean score: 85</a:t>
            </a:r>
          </a:p>
        </p:txBody>
      </p:sp>
      <p:sp>
        <p:nvSpPr>
          <p:cNvPr name="TextBox 54" id="54"/>
          <p:cNvSpPr txBox="true"/>
          <p:nvPr/>
        </p:nvSpPr>
        <p:spPr>
          <a:xfrm rot="1203829">
            <a:off x="5990002" y="6233179"/>
            <a:ext cx="2349865" cy="730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7"/>
              </a:lnSpc>
            </a:pPr>
            <a:r>
              <a:rPr lang="en-US" sz="2098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Thematic</a:t>
            </a:r>
          </a:p>
          <a:p>
            <a:pPr algn="ctr">
              <a:lnSpc>
                <a:spcPts val="2937"/>
              </a:lnSpc>
              <a:spcBef>
                <a:spcPct val="0"/>
              </a:spcBef>
            </a:pPr>
            <a:r>
              <a:rPr lang="en-US" b="true" sz="2098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analysis </a:t>
            </a:r>
          </a:p>
        </p:txBody>
      </p:sp>
      <p:grpSp>
        <p:nvGrpSpPr>
          <p:cNvPr name="Group 55" id="55"/>
          <p:cNvGrpSpPr/>
          <p:nvPr/>
        </p:nvGrpSpPr>
        <p:grpSpPr>
          <a:xfrm rot="0">
            <a:off x="10893302" y="7532626"/>
            <a:ext cx="2440232" cy="2345566"/>
            <a:chOff x="0" y="0"/>
            <a:chExt cx="3253642" cy="3127422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3253642" cy="3127422"/>
              <a:chOff x="0" y="0"/>
              <a:chExt cx="845604" cy="8128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8456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604">
                    <a:moveTo>
                      <a:pt x="422802" y="0"/>
                    </a:moveTo>
                    <a:cubicBezTo>
                      <a:pt x="189295" y="0"/>
                      <a:pt x="0" y="181951"/>
                      <a:pt x="0" y="406400"/>
                    </a:cubicBezTo>
                    <a:cubicBezTo>
                      <a:pt x="0" y="630849"/>
                      <a:pt x="189295" y="812800"/>
                      <a:pt x="422802" y="812800"/>
                    </a:cubicBezTo>
                    <a:cubicBezTo>
                      <a:pt x="656309" y="812800"/>
                      <a:pt x="845604" y="630849"/>
                      <a:pt x="845604" y="406400"/>
                    </a:cubicBezTo>
                    <a:cubicBezTo>
                      <a:pt x="845604" y="181951"/>
                      <a:pt x="656309" y="0"/>
                      <a:pt x="422802" y="0"/>
                    </a:cubicBezTo>
                    <a:close/>
                  </a:path>
                </a:pathLst>
              </a:custGeom>
              <a:solidFill>
                <a:srgbClr val="407AB1">
                  <a:alpha val="19608"/>
                </a:srgbClr>
              </a:solid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79275" y="47625"/>
                <a:ext cx="687053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6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194202" y="942544"/>
              <a:ext cx="2865238" cy="1319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0"/>
                </a:lnSpc>
              </a:pPr>
              <a:r>
                <a:rPr lang="en-US" sz="142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Privacy</a:t>
              </a:r>
              <a:r>
                <a:rPr lang="en-US" sz="142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Messaging &amp; Clear Specialised Features were Reassuring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753437" y="5882388"/>
            <a:ext cx="2272894" cy="2272894"/>
            <a:chOff x="0" y="0"/>
            <a:chExt cx="3030525" cy="3030525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3030525" cy="3030525"/>
              <a:chOff x="0" y="0"/>
              <a:chExt cx="812800" cy="8128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A796F">
                  <a:alpha val="29804"/>
                </a:srgbClr>
              </a:solidFill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31873" y="947603"/>
              <a:ext cx="2566780" cy="990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48"/>
                </a:lnSpc>
              </a:pPr>
              <a:r>
                <a:rPr lang="en-US" sz="146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</a:t>
              </a:r>
              <a:r>
                <a:rPr lang="en-US" sz="1463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sual Feedback built Confidence in the App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933246" y="7008215"/>
            <a:ext cx="2294133" cy="2294133"/>
            <a:chOff x="0" y="0"/>
            <a:chExt cx="3058844" cy="3058844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3058844" cy="3058844"/>
              <a:chOff x="0" y="0"/>
              <a:chExt cx="812800" cy="8128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561AD">
                  <a:alpha val="29804"/>
                </a:srgbClr>
              </a:solid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391880" y="978714"/>
              <a:ext cx="2275084" cy="9915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39"/>
                </a:lnSpc>
              </a:pPr>
              <a:r>
                <a:rPr lang="en-US" sz="1457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AI Suggestions Were Helpful But Not 100% Trusted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2753298" y="6487496"/>
            <a:ext cx="1896317" cy="1896317"/>
            <a:chOff x="0" y="0"/>
            <a:chExt cx="2528423" cy="2528423"/>
          </a:xfrm>
        </p:grpSpPr>
        <p:sp>
          <p:nvSpPr>
            <p:cNvPr name="TextBox 71" id="71"/>
            <p:cNvSpPr txBox="true"/>
            <p:nvPr/>
          </p:nvSpPr>
          <p:spPr>
            <a:xfrm rot="0">
              <a:off x="208656" y="744341"/>
              <a:ext cx="2111112" cy="9625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7"/>
                </a:lnSpc>
              </a:pPr>
              <a:r>
                <a:rPr lang="en-US" sz="141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Calendar Interface Was Intuitive</a:t>
              </a:r>
            </a:p>
          </p:txBody>
        </p:sp>
        <p:grpSp>
          <p:nvGrpSpPr>
            <p:cNvPr name="Group 72" id="72"/>
            <p:cNvGrpSpPr/>
            <p:nvPr/>
          </p:nvGrpSpPr>
          <p:grpSpPr>
            <a:xfrm rot="0">
              <a:off x="0" y="0"/>
              <a:ext cx="2528423" cy="2528423"/>
              <a:chOff x="0" y="0"/>
              <a:chExt cx="812800" cy="812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86409A">
                  <a:alpha val="29804"/>
                </a:srgbClr>
              </a:solidFill>
            </p:spPr>
          </p:sp>
          <p:sp>
            <p:nvSpPr>
              <p:cNvPr name="TextBox 74" id="74"/>
              <p:cNvSpPr txBox="true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grpSp>
        <p:nvGrpSpPr>
          <p:cNvPr name="Group 75" id="75"/>
          <p:cNvGrpSpPr/>
          <p:nvPr/>
        </p:nvGrpSpPr>
        <p:grpSpPr>
          <a:xfrm rot="0">
            <a:off x="13026331" y="7727322"/>
            <a:ext cx="2440232" cy="2345566"/>
            <a:chOff x="0" y="0"/>
            <a:chExt cx="3253642" cy="3127422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3253642" cy="3127422"/>
              <a:chOff x="0" y="0"/>
              <a:chExt cx="845604" cy="8128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84560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45604">
                    <a:moveTo>
                      <a:pt x="422802" y="0"/>
                    </a:moveTo>
                    <a:cubicBezTo>
                      <a:pt x="189295" y="0"/>
                      <a:pt x="0" y="181951"/>
                      <a:pt x="0" y="406400"/>
                    </a:cubicBezTo>
                    <a:cubicBezTo>
                      <a:pt x="0" y="630849"/>
                      <a:pt x="189295" y="812800"/>
                      <a:pt x="422802" y="812800"/>
                    </a:cubicBezTo>
                    <a:cubicBezTo>
                      <a:pt x="656309" y="812800"/>
                      <a:pt x="845604" y="630849"/>
                      <a:pt x="845604" y="406400"/>
                    </a:cubicBezTo>
                    <a:cubicBezTo>
                      <a:pt x="845604" y="181951"/>
                      <a:pt x="656309" y="0"/>
                      <a:pt x="422802" y="0"/>
                    </a:cubicBezTo>
                    <a:close/>
                  </a:path>
                </a:pathLst>
              </a:custGeom>
              <a:solidFill>
                <a:srgbClr val="FA796F">
                  <a:alpha val="19608"/>
                </a:srgbClr>
              </a:solidFill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79275" y="47625"/>
                <a:ext cx="687053" cy="6889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66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194202" y="942544"/>
              <a:ext cx="2865238" cy="13192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90"/>
                </a:lnSpc>
              </a:pPr>
              <a:r>
                <a:rPr lang="en-US" sz="142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Privacy</a:t>
              </a:r>
              <a:r>
                <a:rPr lang="en-US" sz="1421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Messaging &amp; Clear Specialised Features were Reassuring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61209" y="560387"/>
            <a:ext cx="9416203" cy="669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Conclusion</a:t>
            </a:r>
          </a:p>
        </p:txBody>
      </p:sp>
      <p:sp>
        <p:nvSpPr>
          <p:cNvPr name="AutoShape 3" id="3"/>
          <p:cNvSpPr/>
          <p:nvPr/>
        </p:nvSpPr>
        <p:spPr>
          <a:xfrm>
            <a:off x="1063665" y="1268413"/>
            <a:ext cx="4179797" cy="0"/>
          </a:xfrm>
          <a:prstGeom prst="line">
            <a:avLst/>
          </a:prstGeom>
          <a:ln cap="rnd" w="47625">
            <a:solidFill>
              <a:srgbClr val="86409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3989561" y="-1105050"/>
            <a:ext cx="6635081" cy="7988052"/>
            <a:chOff x="0" y="0"/>
            <a:chExt cx="8846774" cy="10650737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1139565"/>
              <a:ext cx="4951454" cy="4951454"/>
              <a:chOff x="0" y="0"/>
              <a:chExt cx="812800" cy="81280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0">
              <a:off x="2213159" y="3723949"/>
              <a:ext cx="6633615" cy="6633615"/>
              <a:chOff x="0" y="0"/>
              <a:chExt cx="812800" cy="8128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1" id="11"/>
            <p:cNvGrpSpPr/>
            <p:nvPr/>
          </p:nvGrpSpPr>
          <p:grpSpPr>
            <a:xfrm rot="0">
              <a:off x="3131764" y="4642554"/>
              <a:ext cx="4796406" cy="4796406"/>
              <a:chOff x="0" y="0"/>
              <a:chExt cx="812800" cy="8128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4" id="14"/>
            <p:cNvGrpSpPr/>
            <p:nvPr/>
          </p:nvGrpSpPr>
          <p:grpSpPr>
            <a:xfrm rot="0">
              <a:off x="3554254" y="0"/>
              <a:ext cx="2667401" cy="2667401"/>
              <a:chOff x="0" y="0"/>
              <a:chExt cx="812800" cy="8128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grpSp>
          <p:nvGrpSpPr>
            <p:cNvPr name="Group 17" id="17"/>
            <p:cNvGrpSpPr/>
            <p:nvPr/>
          </p:nvGrpSpPr>
          <p:grpSpPr>
            <a:xfrm rot="0">
              <a:off x="4140332" y="586078"/>
              <a:ext cx="1495244" cy="1495244"/>
              <a:chOff x="0" y="0"/>
              <a:chExt cx="812800" cy="8128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19" id="19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 marL="0" indent="0" lvl="0">
                  <a:lnSpc>
                    <a:spcPts val="3326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20" id="20"/>
            <p:cNvGrpSpPr/>
            <p:nvPr/>
          </p:nvGrpSpPr>
          <p:grpSpPr>
            <a:xfrm rot="0">
              <a:off x="1995040" y="7821792"/>
              <a:ext cx="2828945" cy="2828945"/>
              <a:chOff x="0" y="0"/>
              <a:chExt cx="812800" cy="8128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2800">
                    <a:moveTo>
                      <a:pt x="406400" y="0"/>
                    </a:moveTo>
                    <a:lnTo>
                      <a:pt x="812800" y="406400"/>
                    </a:lnTo>
                    <a:lnTo>
                      <a:pt x="406400" y="812800"/>
                    </a:lnTo>
                    <a:lnTo>
                      <a:pt x="0" y="406400"/>
                    </a:lnTo>
                    <a:lnTo>
                      <a:pt x="406400" y="0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8C52FF">
                      <a:alpha val="100000"/>
                    </a:srgbClr>
                  </a:gs>
                  <a:gs pos="100000">
                    <a:srgbClr val="FF914D">
                      <a:alpha val="100000"/>
                    </a:srgbClr>
                  </a:gs>
                </a:gsLst>
                <a:lin ang="0"/>
              </a:gra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139700" y="92075"/>
                <a:ext cx="533400" cy="58102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</p:grpSp>
      <p:grpSp>
        <p:nvGrpSpPr>
          <p:cNvPr name="Group 23" id="23"/>
          <p:cNvGrpSpPr/>
          <p:nvPr/>
        </p:nvGrpSpPr>
        <p:grpSpPr>
          <a:xfrm rot="0">
            <a:off x="8904615" y="-2891513"/>
            <a:ext cx="4063487" cy="4063487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A796F">
                <a:alpha val="9804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139700" y="92075"/>
              <a:ext cx="533400" cy="581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3665" y="1708752"/>
            <a:ext cx="10523265" cy="192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690" indent="-298345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Built a working speech-based mood monitoring system.</a:t>
            </a:r>
          </a:p>
          <a:p>
            <a:pPr algn="l" marL="596690" indent="-298345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Validated journaling metaphor as low-stigma and effective.</a:t>
            </a:r>
          </a:p>
          <a:p>
            <a:pPr algn="l" marL="596690" indent="-298345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 ML integration revealed trust and explainability gaps.</a:t>
            </a:r>
          </a:p>
          <a:p>
            <a:pPr algn="l" marL="596690" indent="-298345" lvl="1">
              <a:lnSpc>
                <a:spcPts val="3869"/>
              </a:lnSpc>
              <a:buFont typeface="Arial"/>
              <a:buChar char="•"/>
            </a:pPr>
            <a:r>
              <a:rPr lang="en-US" sz="27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Identified challenges in long-term engagement.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314365" y="4303198"/>
            <a:ext cx="7180500" cy="4955102"/>
            <a:chOff x="0" y="0"/>
            <a:chExt cx="9574000" cy="6606802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9574000" cy="6606802"/>
              <a:chOff x="0" y="0"/>
              <a:chExt cx="2600833" cy="1794637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00833" cy="1794637"/>
              </a:xfrm>
              <a:custGeom>
                <a:avLst/>
                <a:gdLst/>
                <a:ahLst/>
                <a:cxnLst/>
                <a:rect r="r" b="b" t="t" l="l"/>
                <a:pathLst>
                  <a:path h="1794637" w="2600833">
                    <a:moveTo>
                      <a:pt x="2600833" y="21952"/>
                    </a:moveTo>
                    <a:lnTo>
                      <a:pt x="2600833" y="1772685"/>
                    </a:lnTo>
                    <a:cubicBezTo>
                      <a:pt x="2600833" y="1784809"/>
                      <a:pt x="2591005" y="1794637"/>
                      <a:pt x="2578881" y="1794637"/>
                    </a:cubicBezTo>
                    <a:lnTo>
                      <a:pt x="21952" y="1794637"/>
                    </a:lnTo>
                    <a:cubicBezTo>
                      <a:pt x="9828" y="1794637"/>
                      <a:pt x="0" y="1784809"/>
                      <a:pt x="0" y="1772685"/>
                    </a:cubicBezTo>
                    <a:lnTo>
                      <a:pt x="0" y="21952"/>
                    </a:lnTo>
                    <a:cubicBezTo>
                      <a:pt x="0" y="9828"/>
                      <a:pt x="9828" y="0"/>
                      <a:pt x="21952" y="0"/>
                    </a:cubicBezTo>
                    <a:lnTo>
                      <a:pt x="2578881" y="0"/>
                    </a:lnTo>
                    <a:cubicBezTo>
                      <a:pt x="2584703" y="0"/>
                      <a:pt x="2590287" y="2313"/>
                      <a:pt x="2594403" y="6429"/>
                    </a:cubicBezTo>
                    <a:cubicBezTo>
                      <a:pt x="2598520" y="10546"/>
                      <a:pt x="2600833" y="16130"/>
                      <a:pt x="2600833" y="21952"/>
                    </a:cubicBezTo>
                    <a:close/>
                  </a:path>
                </a:pathLst>
              </a:custGeom>
              <a:solidFill>
                <a:srgbClr val="86409A"/>
              </a:solidFill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47625"/>
                <a:ext cx="2600833" cy="184226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326"/>
                  </a:lnSpc>
                </a:pPr>
              </a:p>
            </p:txBody>
          </p:sp>
        </p:grpSp>
        <p:pic>
          <p:nvPicPr>
            <p:cNvPr name="Picture 31" id="31">
              <a:hlinkClick action="ppaction://media"/>
            </p:cNvPr>
            <p:cNvPicPr>
              <a:picLocks noChangeAspect="true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4"/>
                </p:ext>
              </p:extLst>
            </p:nvPr>
          </p:nvPicPr>
          <p:blipFill>
            <a:blip r:embed="rId2"/>
            <a:srcRect l="12886" t="0" r="13745" b="0"/>
            <a:stretch>
              <a:fillRect/>
            </a:stretch>
          </p:blipFill>
          <p:spPr>
            <a:xfrm flipH="false" flipV="false" rot="0">
              <a:off x="177343" y="161922"/>
              <a:ext cx="9219313" cy="6282854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dur="indefinite" restart="never" nodeType="tmRoot">
          <p:childTnLst>
            <p:video>
              <p:cMediaNode vol="0">
                <p:cTn fill="hold" display="false">
                  <p:stCondLst>
                    <p:cond delay="indefinite"/>
                  </p:stCondLst>
                </p:cTn>
                <p:tgtEl>
                  <p:spTgt spid="31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DAG5BofZPRo</dc:identifier>
  <dcterms:modified xsi:type="dcterms:W3CDTF">2011-08-01T06:04:30Z</dcterms:modified>
  <cp:revision>1</cp:revision>
  <dc:title>HCI Presentation 2</dc:title>
</cp:coreProperties>
</file>